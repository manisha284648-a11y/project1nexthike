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9" r:id="rId10"/>
    <p:sldId id="270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35D22-353A-46C7-8045-3896F29D8330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5C921-976E-4E3D-832E-3248100A2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924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F5C921-976E-4E3D-832E-3248100A2F4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857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78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95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0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61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1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8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08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9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86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42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73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0001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37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47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27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275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770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39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54373B9-A78B-40F9-8555-A4AE2A715CE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2D9BB-9B66-4E41-BFBB-DED21B8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40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ulwlpaper.blogspot.com/2013/09/amazing-super-hd-bike-wallpapers.html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creativecommons.org/licenses/by-nc-nd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7" Type="http://schemas.openxmlformats.org/officeDocument/2006/relationships/image" Target="../media/image14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tmp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tmp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F7649-B53C-C685-3B4D-52D5F438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48" y="331769"/>
            <a:ext cx="8825658" cy="3329581"/>
          </a:xfrm>
        </p:spPr>
        <p:txBody>
          <a:bodyPr>
            <a:normAutofit/>
          </a:bodyPr>
          <a:lstStyle/>
          <a:p>
            <a:r>
              <a:rPr lang="en-US" sz="4000" dirty="0">
                <a:highlight>
                  <a:srgbClr val="000000"/>
                </a:highlight>
              </a:rPr>
              <a:t>BIKE SHARING DATA ANALYSIS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       </a:t>
            </a:r>
            <a:r>
              <a:rPr lang="en-US" sz="2700" dirty="0"/>
              <a:t>POWER BI DASHBOARD PROJECT</a:t>
            </a:r>
            <a:br>
              <a:rPr lang="en-US" sz="4000" dirty="0"/>
            </a:br>
            <a:r>
              <a:rPr lang="en-US" sz="4000" dirty="0"/>
              <a:t>         </a:t>
            </a:r>
            <a:r>
              <a:rPr lang="en-US" sz="3200" dirty="0">
                <a:highlight>
                  <a:srgbClr val="000000"/>
                </a:highlight>
              </a:rPr>
              <a:t>NEXTHIKE IT SOLUTION 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B90C7-A80B-6A72-A2D8-D4108FE39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7750" y="4861440"/>
            <a:ext cx="8825658" cy="86142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Prepared by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Manisha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C51915-20A4-0BFD-E8E0-E3361B015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9746" y="3918857"/>
            <a:ext cx="3273909" cy="20930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084839-58DB-03E9-6EB2-6869D6D12B9F}"/>
              </a:ext>
            </a:extLst>
          </p:cNvPr>
          <p:cNvSpPr txBox="1"/>
          <p:nvPr/>
        </p:nvSpPr>
        <p:spPr>
          <a:xfrm>
            <a:off x="639746" y="6092275"/>
            <a:ext cx="37111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dulwlpaper.blogspot.com/2013/09/amazing-super-hd-bike-wallpapers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nd/3.0/"/>
              </a:rPr>
              <a:t>CC BY-NC-ND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1098499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EB4C-129A-76B9-385A-5370D688D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806" y="1209368"/>
            <a:ext cx="8825658" cy="389357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INTRODUCTION</a:t>
            </a:r>
            <a:br>
              <a:rPr lang="en-US" sz="3200" dirty="0">
                <a:solidFill>
                  <a:schemeClr val="accent2"/>
                </a:solidFill>
                <a:latin typeface="Arial Rounded MT Bold" panose="020F0704030504030204" pitchFamily="34" charset="0"/>
              </a:rPr>
            </a:br>
            <a:r>
              <a:rPr lang="en-US" sz="2800" u="sng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br>
              <a:rPr lang="en-US" sz="2800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The bike sharing dataset contains information about bike rentals ,weather conditions, seasons and user demand.</a:t>
            </a:r>
            <a:b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000" i="1" dirty="0">
                <a:solidFill>
                  <a:schemeClr val="tx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200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1D558-6E58-01B5-7C0D-C7E176FFA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7806" y="4483510"/>
            <a:ext cx="9041968" cy="845576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highlight>
                  <a:srgbClr val="0000FF"/>
                </a:highlight>
              </a:rPr>
              <a:t>Tool used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highlight>
                  <a:srgbClr val="0000FF"/>
                </a:highlight>
              </a:rPr>
              <a:t>:-  Excel, power query, power bi</a:t>
            </a:r>
            <a:endParaRPr lang="en-IN" b="1" dirty="0">
              <a:solidFill>
                <a:schemeClr val="accent3">
                  <a:lumMod val="75000"/>
                </a:schemeClr>
              </a:solidFill>
              <a:highlight>
                <a:srgbClr val="00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955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6EFA-8332-2977-C2B0-81DB2AE0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66" y="324899"/>
            <a:ext cx="9404723" cy="1400530"/>
          </a:xfrm>
        </p:spPr>
        <p:txBody>
          <a:bodyPr/>
          <a:lstStyle/>
          <a:p>
            <a:r>
              <a:rPr lang="en-US" sz="3200" dirty="0"/>
              <a:t>OBJECTIVES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CBB1-7D2E-DAA6-F722-E02C0B5B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460" y="1236841"/>
            <a:ext cx="8946541" cy="4195481"/>
          </a:xfrm>
        </p:spPr>
        <p:txBody>
          <a:bodyPr/>
          <a:lstStyle/>
          <a:p>
            <a:r>
              <a:rPr lang="en-US" dirty="0"/>
              <a:t>To analyze bike rental trends.</a:t>
            </a:r>
          </a:p>
          <a:p>
            <a:r>
              <a:rPr lang="en-US" dirty="0"/>
              <a:t>To understand the impact of weather on bike rentals .</a:t>
            </a:r>
          </a:p>
          <a:p>
            <a:r>
              <a:rPr lang="en-US" dirty="0"/>
              <a:t>To compare casual and registered users.</a:t>
            </a:r>
          </a:p>
          <a:p>
            <a:r>
              <a:rPr lang="en-US" dirty="0"/>
              <a:t>To identify seasonal  patterns in bike demand 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057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95AC-9A46-302D-430E-0B8FF7DEC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u="sng" dirty="0"/>
              <a:t>DATASET OVERVIEW:</a:t>
            </a:r>
            <a:endParaRPr lang="en-IN" sz="28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E04D6-4643-61FB-04E0-F5FD212E2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325" y="1331259"/>
            <a:ext cx="8946541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Dataset Information:</a:t>
            </a:r>
          </a:p>
          <a:p>
            <a:pPr marL="0" indent="0">
              <a:buNone/>
            </a:pPr>
            <a:r>
              <a:rPr lang="en-US" dirty="0"/>
              <a:t>        The dataset contains bike rental records and information about weather and seasonal conditions.</a:t>
            </a:r>
          </a:p>
          <a:p>
            <a:pPr marL="0" indent="0">
              <a:buNone/>
            </a:pPr>
            <a:r>
              <a:rPr lang="en-US" dirty="0"/>
              <a:t> IMPORTANT COLUMNS: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. </a:t>
            </a: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Date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Season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Weather situation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Temperature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Humidity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Casual Users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 .Registered users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. Total rentals</a:t>
            </a:r>
          </a:p>
          <a:p>
            <a:pPr marL="0" indent="0">
              <a:buNone/>
            </a:pPr>
            <a:r>
              <a:rPr lang="en-IN" dirty="0">
                <a:solidFill>
                  <a:schemeClr val="tx2">
                    <a:lumMod val="10000"/>
                  </a:schemeClr>
                </a:solidFill>
                <a:highlight>
                  <a:srgbClr val="0000FF"/>
                </a:highlight>
              </a:rPr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E9BD4-3063-B331-001A-5FDD97980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6" t="29273" r="24603" b="5773"/>
          <a:stretch>
            <a:fillRect/>
          </a:stretch>
        </p:blipFill>
        <p:spPr>
          <a:xfrm>
            <a:off x="4420885" y="2203437"/>
            <a:ext cx="5417575" cy="33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1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5283F4-D7CF-A59D-959A-AC0FBB9C1894}"/>
              </a:ext>
            </a:extLst>
          </p:cNvPr>
          <p:cNvSpPr txBox="1"/>
          <p:nvPr/>
        </p:nvSpPr>
        <p:spPr>
          <a:xfrm>
            <a:off x="4165022" y="194326"/>
            <a:ext cx="3861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highlight>
                  <a:srgbClr val="C0C0C0"/>
                </a:highlight>
              </a:rPr>
              <a:t>DATA CLEANING</a:t>
            </a:r>
            <a:endParaRPr lang="en-IN" sz="3600" b="1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94CD0-6B45-9FEB-72B7-6553693BBAD8}"/>
              </a:ext>
            </a:extLst>
          </p:cNvPr>
          <p:cNvSpPr txBox="1"/>
          <p:nvPr/>
        </p:nvSpPr>
        <p:spPr>
          <a:xfrm>
            <a:off x="776748" y="943897"/>
            <a:ext cx="3724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cleaning and Transformation-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C2D6F-71A7-7FD4-463D-B8C55FE98BFD}"/>
              </a:ext>
            </a:extLst>
          </p:cNvPr>
          <p:cNvSpPr txBox="1"/>
          <p:nvPr/>
        </p:nvSpPr>
        <p:spPr>
          <a:xfrm>
            <a:off x="4395019" y="1455174"/>
            <a:ext cx="3970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cleaning using power Query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84DA3-1C64-CB53-46C3-9711CB6A2CE0}"/>
              </a:ext>
            </a:extLst>
          </p:cNvPr>
          <p:cNvSpPr txBox="1"/>
          <p:nvPr/>
        </p:nvSpPr>
        <p:spPr>
          <a:xfrm>
            <a:off x="776748" y="1995948"/>
            <a:ext cx="558201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operations were performed:</a:t>
            </a:r>
          </a:p>
          <a:p>
            <a:r>
              <a:rPr lang="en-US" dirty="0"/>
              <a:t>     </a:t>
            </a:r>
            <a:r>
              <a:rPr lang="en-US" sz="1400" dirty="0"/>
              <a:t>1.Checked missing and null values.</a:t>
            </a:r>
          </a:p>
          <a:p>
            <a:r>
              <a:rPr lang="en-US" sz="1400" dirty="0"/>
              <a:t>       2 .Removed duplicate records where necessary.</a:t>
            </a:r>
          </a:p>
          <a:p>
            <a:r>
              <a:rPr lang="en-US" sz="1400" dirty="0"/>
              <a:t>       3. Correct data types.</a:t>
            </a:r>
          </a:p>
          <a:p>
            <a:r>
              <a:rPr lang="en-US" sz="1400" dirty="0"/>
              <a:t>       4.Cleand the data column.</a:t>
            </a:r>
          </a:p>
          <a:p>
            <a:r>
              <a:rPr lang="en-US" sz="1400" dirty="0"/>
              <a:t>       5. Checked unusual values and data .</a:t>
            </a:r>
          </a:p>
          <a:p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B49286-D09A-05BD-20C2-72372E9A1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176" t="-19026" b="-1903"/>
          <a:stretch>
            <a:fillRect/>
          </a:stretch>
        </p:blipFill>
        <p:spPr>
          <a:xfrm>
            <a:off x="98322" y="1111044"/>
            <a:ext cx="11316930" cy="562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4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B0542-02FB-D4E7-E896-34C59660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85" y="88094"/>
            <a:ext cx="9404723" cy="1400530"/>
          </a:xfrm>
        </p:spPr>
        <p:txBody>
          <a:bodyPr/>
          <a:lstStyle/>
          <a:p>
            <a:r>
              <a:rPr lang="en-US" sz="3200" b="1" u="sng" dirty="0"/>
              <a:t>DATA ANALYSIS</a:t>
            </a:r>
            <a:endParaRPr lang="en-IN" sz="32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816F-058D-4112-F12D-7E5C4D9E4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8333" y="3833361"/>
            <a:ext cx="4491243" cy="419156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Total Bike Rentals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highlight>
                  <a:srgbClr val="000080"/>
                </a:highlight>
              </a:rPr>
              <a:t>Total Bike Rentals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D64441-D0D1-2BB2-1C7C-B9DBFC8E9E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24" t="38782" r="36242" b="17177"/>
          <a:stretch>
            <a:fillRect/>
          </a:stretch>
        </p:blipFill>
        <p:spPr>
          <a:xfrm>
            <a:off x="5437497" y="1013904"/>
            <a:ext cx="3303638" cy="2251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5A3C17-FB34-1865-F60C-276211C9D682}"/>
              </a:ext>
            </a:extLst>
          </p:cNvPr>
          <p:cNvSpPr txBox="1"/>
          <p:nvPr/>
        </p:nvSpPr>
        <p:spPr>
          <a:xfrm>
            <a:off x="5532351" y="3355460"/>
            <a:ext cx="2722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0000FF"/>
                </a:highlight>
              </a:rPr>
              <a:t>Bike Rentals by season</a:t>
            </a:r>
          </a:p>
          <a:p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9818A6-B2AB-F28D-176F-57E1C54DB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87" r="68254" b="8424"/>
          <a:stretch>
            <a:fillRect/>
          </a:stretch>
        </p:blipFill>
        <p:spPr>
          <a:xfrm>
            <a:off x="9006015" y="1186673"/>
            <a:ext cx="2746508" cy="1883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9BCFB9-BE1D-E117-133C-2148D0BC717C}"/>
              </a:ext>
            </a:extLst>
          </p:cNvPr>
          <p:cNvSpPr txBox="1"/>
          <p:nvPr/>
        </p:nvSpPr>
        <p:spPr>
          <a:xfrm>
            <a:off x="9006015" y="3178223"/>
            <a:ext cx="5794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0000FF"/>
                </a:highlight>
              </a:rPr>
              <a:t>Casual vs. Registered users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C5606C-6037-FED4-E7FB-06C30E709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2" t="55308" r="66542" b="9376"/>
          <a:stretch>
            <a:fillRect/>
          </a:stretch>
        </p:blipFill>
        <p:spPr>
          <a:xfrm>
            <a:off x="5176027" y="3870721"/>
            <a:ext cx="3401960" cy="18980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CC0E97-F66A-D63B-D66C-FCE59DD887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6" t="37003" r="7258" b="14213"/>
          <a:stretch>
            <a:fillRect/>
          </a:stretch>
        </p:blipFill>
        <p:spPr>
          <a:xfrm>
            <a:off x="9006015" y="3745655"/>
            <a:ext cx="3058166" cy="22028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B9E7D8-D670-CCF8-8BFE-048F5E1B1924}"/>
              </a:ext>
            </a:extLst>
          </p:cNvPr>
          <p:cNvSpPr txBox="1"/>
          <p:nvPr/>
        </p:nvSpPr>
        <p:spPr>
          <a:xfrm>
            <a:off x="5958347" y="5820697"/>
            <a:ext cx="2644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00FF"/>
                </a:highlight>
              </a:rPr>
              <a:t>Working days /Non working days</a:t>
            </a:r>
            <a:endParaRPr lang="en-IN" dirty="0">
              <a:highlight>
                <a:srgbClr val="0000FF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3EA646-3DD2-E5E3-9E83-256628CA69C7}"/>
              </a:ext>
            </a:extLst>
          </p:cNvPr>
          <p:cNvSpPr txBox="1"/>
          <p:nvPr/>
        </p:nvSpPr>
        <p:spPr>
          <a:xfrm>
            <a:off x="9124335" y="5948516"/>
            <a:ext cx="305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00FF"/>
                </a:highlight>
              </a:rPr>
              <a:t>Working days by weather</a:t>
            </a:r>
            <a:endParaRPr lang="en-IN" dirty="0">
              <a:highlight>
                <a:srgbClr val="0000FF"/>
              </a:highlight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C09744-0EFE-E5E0-6636-17D5D6BB5F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33795" r="65086" b="22789"/>
          <a:stretch>
            <a:fillRect/>
          </a:stretch>
        </p:blipFill>
        <p:spPr>
          <a:xfrm>
            <a:off x="641362" y="1336401"/>
            <a:ext cx="3473092" cy="188798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B098E2E-827A-54DA-D68C-06852FFD651F}"/>
              </a:ext>
            </a:extLst>
          </p:cNvPr>
          <p:cNvSpPr txBox="1"/>
          <p:nvPr/>
        </p:nvSpPr>
        <p:spPr>
          <a:xfrm>
            <a:off x="742886" y="3255614"/>
            <a:ext cx="3307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000080"/>
                </a:highlight>
              </a:rPr>
              <a:t>Bike Rental Trends over time</a:t>
            </a:r>
          </a:p>
          <a:p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838FE42-7EE4-3051-F8FE-13CB9EAC36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" t="55539" r="63039" b="19609"/>
          <a:stretch>
            <a:fillRect/>
          </a:stretch>
        </p:blipFill>
        <p:spPr>
          <a:xfrm>
            <a:off x="564957" y="3745656"/>
            <a:ext cx="3663173" cy="189806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3377416-5C50-F2DD-D6CF-9B60C4552A7D}"/>
              </a:ext>
            </a:extLst>
          </p:cNvPr>
          <p:cNvSpPr txBox="1"/>
          <p:nvPr/>
        </p:nvSpPr>
        <p:spPr>
          <a:xfrm>
            <a:off x="4228130" y="506652"/>
            <a:ext cx="2861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8000"/>
                </a:highlight>
              </a:rPr>
              <a:t>Tool used 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15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477BB3-D0C8-43D4-63B4-1E23CD418333}"/>
              </a:ext>
            </a:extLst>
          </p:cNvPr>
          <p:cNvSpPr txBox="1"/>
          <p:nvPr/>
        </p:nvSpPr>
        <p:spPr>
          <a:xfrm>
            <a:off x="560439" y="226141"/>
            <a:ext cx="6086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highlight>
                  <a:srgbClr val="000080"/>
                </a:highlight>
              </a:rPr>
              <a:t>Impact of Temperature on Bike Rentals </a:t>
            </a:r>
            <a:r>
              <a:rPr lang="en-US" b="1" dirty="0"/>
              <a:t>: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AF7FE-2C93-C75D-CA1D-CF22EEA64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" t="39867" r="69919" b="29014"/>
          <a:stretch>
            <a:fillRect/>
          </a:stretch>
        </p:blipFill>
        <p:spPr>
          <a:xfrm>
            <a:off x="442451" y="980767"/>
            <a:ext cx="3401962" cy="2015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00F6B1-280B-8CF6-FC7F-64C376C10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4" t="38804" r="39918" b="23397"/>
          <a:stretch>
            <a:fillRect/>
          </a:stretch>
        </p:blipFill>
        <p:spPr>
          <a:xfrm>
            <a:off x="4444180" y="980767"/>
            <a:ext cx="3628103" cy="2448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8D676F-4D06-849B-7573-4B4CCE553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99" t="42647" r="6210" b="15655"/>
          <a:stretch>
            <a:fillRect/>
          </a:stretch>
        </p:blipFill>
        <p:spPr>
          <a:xfrm>
            <a:off x="8377084" y="1645067"/>
            <a:ext cx="3372465" cy="23763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D6FE12-2718-ED90-2A3D-008427663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05" t="39564" b="22457"/>
          <a:stretch>
            <a:fillRect/>
          </a:stretch>
        </p:blipFill>
        <p:spPr>
          <a:xfrm>
            <a:off x="825910" y="3861621"/>
            <a:ext cx="4522838" cy="245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69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DDF493-B995-A79B-13DF-7B55C07C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0" y="6857999"/>
            <a:ext cx="12192000" cy="457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2503F6-36D9-D239-EABA-F2BA75D78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68" r="6290" b="8520"/>
          <a:stretch>
            <a:fillRect/>
          </a:stretch>
        </p:blipFill>
        <p:spPr>
          <a:xfrm>
            <a:off x="147484" y="1052052"/>
            <a:ext cx="9901085" cy="3608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ED2527-3811-6AC9-FC85-73D261BF8317}"/>
              </a:ext>
            </a:extLst>
          </p:cNvPr>
          <p:cNvSpPr txBox="1"/>
          <p:nvPr/>
        </p:nvSpPr>
        <p:spPr>
          <a:xfrm>
            <a:off x="1042219" y="275304"/>
            <a:ext cx="3538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POWER BI DASHBOARD</a:t>
            </a:r>
            <a:endParaRPr lang="en-IN" sz="2400" b="1" dirty="0">
              <a:solidFill>
                <a:schemeClr val="bg2">
                  <a:lumMod val="60000"/>
                  <a:lumOff val="40000"/>
                </a:schemeClr>
              </a:solidFill>
              <a:highlight>
                <a:srgbClr val="00008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2B4820-BCDD-A2D0-19A8-E6EBEFE03C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72" t="36171" r="16578" b="28558"/>
          <a:stretch>
            <a:fillRect/>
          </a:stretch>
        </p:blipFill>
        <p:spPr>
          <a:xfrm>
            <a:off x="598302" y="4833783"/>
            <a:ext cx="3352800" cy="18509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EC41B6-630A-423A-0828-D08F731CC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45" t="75085" r="17581" b="8619"/>
          <a:stretch>
            <a:fillRect/>
          </a:stretch>
        </p:blipFill>
        <p:spPr>
          <a:xfrm>
            <a:off x="4247535" y="4833783"/>
            <a:ext cx="2654709" cy="109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09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42E7F-8732-BFF1-8AEA-DC6A76A771B7}"/>
              </a:ext>
            </a:extLst>
          </p:cNvPr>
          <p:cNvSpPr txBox="1"/>
          <p:nvPr/>
        </p:nvSpPr>
        <p:spPr>
          <a:xfrm>
            <a:off x="993058" y="599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28A47D-F660-F012-45B5-CC95FBACF927}"/>
              </a:ext>
            </a:extLst>
          </p:cNvPr>
          <p:cNvSpPr txBox="1"/>
          <p:nvPr/>
        </p:nvSpPr>
        <p:spPr>
          <a:xfrm>
            <a:off x="4739149" y="445880"/>
            <a:ext cx="2462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highlight>
                  <a:srgbClr val="00FFFF"/>
                </a:highlight>
              </a:rPr>
              <a:t>KPI ANALYSIS</a:t>
            </a:r>
            <a:endParaRPr lang="en-IN" sz="2800" b="1" u="sng"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4CAD9E-447C-167B-8F30-5BF84321A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" t="30455" r="19838" b="8520"/>
          <a:stretch>
            <a:fillRect/>
          </a:stretch>
        </p:blipFill>
        <p:spPr>
          <a:xfrm>
            <a:off x="1339422" y="1671483"/>
            <a:ext cx="9261988" cy="39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0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1363A8-496E-B700-62F1-9A6E36D754C5}"/>
              </a:ext>
            </a:extLst>
          </p:cNvPr>
          <p:cNvSpPr txBox="1"/>
          <p:nvPr/>
        </p:nvSpPr>
        <p:spPr>
          <a:xfrm>
            <a:off x="1081548" y="540774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00FFFF"/>
                </a:highlight>
              </a:rPr>
              <a:t>RECOMMENDATION</a:t>
            </a:r>
            <a:endParaRPr lang="en-IN" sz="2400" b="1"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EDF7D-0BCF-76FC-3943-BA1CEBEBD468}"/>
              </a:ext>
            </a:extLst>
          </p:cNvPr>
          <p:cNvSpPr txBox="1"/>
          <p:nvPr/>
        </p:nvSpPr>
        <p:spPr>
          <a:xfrm>
            <a:off x="1681317" y="1828800"/>
            <a:ext cx="8880957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1.Use historical demand patterns to plan bike availability.</a:t>
            </a:r>
          </a:p>
          <a:p>
            <a:r>
              <a:rPr lang="en-US" sz="2400" dirty="0"/>
              <a:t>2.Monitor rental demand across season.</a:t>
            </a:r>
          </a:p>
          <a:p>
            <a:r>
              <a:rPr lang="en-US" sz="2400" dirty="0"/>
              <a:t>3. Consider weather conditions when planning operations.</a:t>
            </a:r>
          </a:p>
          <a:p>
            <a:r>
              <a:rPr lang="en-US" sz="2400" dirty="0"/>
              <a:t>4. Study casual register users separately.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3989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3BE1C-A0F8-8F6A-A766-C0DE4362B398}"/>
              </a:ext>
            </a:extLst>
          </p:cNvPr>
          <p:cNvSpPr txBox="1"/>
          <p:nvPr/>
        </p:nvSpPr>
        <p:spPr>
          <a:xfrm>
            <a:off x="521110" y="383458"/>
            <a:ext cx="2132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80"/>
                </a:highlight>
              </a:rPr>
              <a:t>KEY INSIGHTS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65616-0D1F-1E4E-773F-E5753A8AC2C2}"/>
              </a:ext>
            </a:extLst>
          </p:cNvPr>
          <p:cNvSpPr txBox="1"/>
          <p:nvPr/>
        </p:nvSpPr>
        <p:spPr>
          <a:xfrm>
            <a:off x="1071717" y="1130710"/>
            <a:ext cx="3585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Content</a:t>
            </a:r>
          </a:p>
          <a:p>
            <a:r>
              <a:rPr lang="en-US" dirty="0"/>
              <a:t>     </a:t>
            </a:r>
            <a:r>
              <a:rPr lang="en-US" sz="1600" dirty="0"/>
              <a:t>Insights from Dashboard </a:t>
            </a:r>
          </a:p>
          <a:p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D7360-15A1-A576-CFE6-7314C5E69424}"/>
              </a:ext>
            </a:extLst>
          </p:cNvPr>
          <p:cNvSpPr txBox="1"/>
          <p:nvPr/>
        </p:nvSpPr>
        <p:spPr>
          <a:xfrm>
            <a:off x="1294381" y="2054040"/>
            <a:ext cx="663034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1.Rental demand varies across seasons.</a:t>
            </a:r>
          </a:p>
          <a:p>
            <a:r>
              <a:rPr lang="en-US" sz="1400" dirty="0"/>
              <a:t>2.Casual and registered users may show different rental patterns.</a:t>
            </a:r>
          </a:p>
          <a:p>
            <a:r>
              <a:rPr lang="en-US" sz="1400" dirty="0"/>
              <a:t>3.Weather conditions may influence bike rental demand. </a:t>
            </a:r>
          </a:p>
          <a:p>
            <a:r>
              <a:rPr lang="en-US" sz="1400" dirty="0"/>
              <a:t>4.The dashboard helps identify high-  demand and low – demand periods.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2623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450DB2-62DA-5321-7E99-059365BFEFF1}"/>
              </a:ext>
            </a:extLst>
          </p:cNvPr>
          <p:cNvSpPr txBox="1"/>
          <p:nvPr/>
        </p:nvSpPr>
        <p:spPr>
          <a:xfrm>
            <a:off x="1602658" y="353961"/>
            <a:ext cx="2929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000080"/>
                </a:highlight>
              </a:rPr>
              <a:t>CONCLUSION</a:t>
            </a:r>
            <a:endParaRPr lang="en-IN" sz="3200" dirty="0">
              <a:highlight>
                <a:srgbClr val="00008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B219E-B48E-61B9-5B80-595890CD8C02}"/>
              </a:ext>
            </a:extLst>
          </p:cNvPr>
          <p:cNvSpPr txBox="1"/>
          <p:nvPr/>
        </p:nvSpPr>
        <p:spPr>
          <a:xfrm>
            <a:off x="2310581" y="1189703"/>
            <a:ext cx="92528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project demonstrates how power Query and Power BI can be used to clean ,</a:t>
            </a:r>
          </a:p>
          <a:p>
            <a:r>
              <a:rPr lang="en-US" dirty="0"/>
              <a:t>Transform, analyze, and visualize bike- sharing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D51B3-89C1-9003-2EE4-1A3E88C54AFF}"/>
              </a:ext>
            </a:extLst>
          </p:cNvPr>
          <p:cNvSpPr txBox="1"/>
          <p:nvPr/>
        </p:nvSpPr>
        <p:spPr>
          <a:xfrm>
            <a:off x="1877961" y="2556387"/>
            <a:ext cx="8287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dashboard provides a clear view of rental trends and user demand 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887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093A3-A3C5-60F3-EF63-F50823DA74ED}"/>
              </a:ext>
            </a:extLst>
          </p:cNvPr>
          <p:cNvSpPr txBox="1"/>
          <p:nvPr/>
        </p:nvSpPr>
        <p:spPr>
          <a:xfrm>
            <a:off x="2546554" y="2340078"/>
            <a:ext cx="72779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THANK YOU  FOR WATCHING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1619136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Words>390</Words>
  <Application>Microsoft Office PowerPoint</Application>
  <PresentationFormat>Widescreen</PresentationFormat>
  <Paragraphs>70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Arial Rounded MT Bold</vt:lpstr>
      <vt:lpstr>Calibri</vt:lpstr>
      <vt:lpstr>Century Gothic</vt:lpstr>
      <vt:lpstr>Wingdings 3</vt:lpstr>
      <vt:lpstr>Ion</vt:lpstr>
      <vt:lpstr>BIKE SHARING DATA ANALYSIS         POWER BI DASHBOARD PROJECT          NEXTHIKE IT SOLUTION  </vt:lpstr>
      <vt:lpstr>INTRODUCTION Project Overview                               The bike sharing dataset contains information about bike rentals ,weather conditions, seasons and user demand.      </vt:lpstr>
      <vt:lpstr>OBJECTIVES:</vt:lpstr>
      <vt:lpstr>DATASET OVERVIEW:</vt:lpstr>
      <vt:lpstr>PowerPoint Presentation</vt:lpstr>
      <vt:lpstr>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vipin kumar</dc:creator>
  <cp:lastModifiedBy>vipin kumar</cp:lastModifiedBy>
  <cp:revision>10</cp:revision>
  <dcterms:created xsi:type="dcterms:W3CDTF">2026-10-09T13:17:30Z</dcterms:created>
  <dcterms:modified xsi:type="dcterms:W3CDTF">2026-10-10T11:36:57Z</dcterms:modified>
</cp:coreProperties>
</file>